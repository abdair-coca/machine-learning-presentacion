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Montnapha" charset="1" panose="00000000000000000000"/>
      <p:regular r:id="rId14"/>
    </p:embeddedFont>
    <p:embeddedFont>
      <p:font typeface="Noto Serif Devanagari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10287000"/>
            <a:chOff x="0" y="0"/>
            <a:chExt cx="1393034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3034" cy="1593725"/>
            </a:xfrm>
            <a:custGeom>
              <a:avLst/>
              <a:gdLst/>
              <a:ahLst/>
              <a:cxnLst/>
              <a:rect r="r" b="b" t="t" l="l"/>
              <a:pathLst>
                <a:path h="1593725" w="1393034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0" r="-90677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983336" y="3186616"/>
            <a:ext cx="12626128" cy="102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8"/>
              </a:lnSpc>
            </a:pPr>
            <a:r>
              <a:rPr lang="en-US" sz="7642">
                <a:solidFill>
                  <a:srgbClr val="FFFFFF"/>
                </a:solidFill>
                <a:latin typeface="Montnapha"/>
                <a:ea typeface="Montnapha"/>
                <a:cs typeface="Montnapha"/>
                <a:sym typeface="Montnapha"/>
              </a:rPr>
              <a:t>Data</a:t>
            </a:r>
            <a:r>
              <a:rPr lang="en-US" sz="7642">
                <a:solidFill>
                  <a:srgbClr val="FFFFFF"/>
                </a:solidFill>
                <a:latin typeface="Montnapha"/>
                <a:ea typeface="Montnapha"/>
                <a:cs typeface="Montnapha"/>
                <a:sym typeface="Montnapha"/>
              </a:rPr>
              <a:t>set en Machine Learning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894838" y="5947266"/>
            <a:ext cx="8498324" cy="101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18"/>
              </a:lnSpc>
              <a:spcBef>
                <a:spcPct val="0"/>
              </a:spcBef>
            </a:pPr>
            <a:r>
              <a:rPr lang="en-US" sz="7642">
                <a:solidFill>
                  <a:srgbClr val="FFFFFF"/>
                </a:solidFill>
                <a:latin typeface="Montnapha"/>
                <a:ea typeface="Montnapha"/>
                <a:cs typeface="Montnapha"/>
                <a:sym typeface="Montnapha"/>
              </a:rPr>
              <a:t>¿Qué es un Dataset?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56259" y="2753963"/>
            <a:ext cx="14975481" cy="4214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65"/>
              </a:lnSpc>
              <a:spcBef>
                <a:spcPct val="0"/>
              </a:spcBef>
            </a:pP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Un 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dataset 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es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 un 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co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njun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to de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 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da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t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o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s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 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que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 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se ut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il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iza p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ar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a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 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entrenar mo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de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lo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s 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de Ma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c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hine Learni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n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g.</a:t>
            </a:r>
          </a:p>
          <a:p>
            <a:pPr algn="ctr" marL="0" indent="0" lvl="0">
              <a:lnSpc>
                <a:spcPts val="6765"/>
              </a:lnSpc>
              <a:spcBef>
                <a:spcPct val="0"/>
              </a:spcBef>
            </a:pP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 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La inf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o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rma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ci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ón se 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o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rga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n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iza 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e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n fila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s 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y 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c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o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l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umnas p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ara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 que el 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s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istema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 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pueda aprender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 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p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at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rones y re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al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izar prediccion</a:t>
            </a:r>
            <a:r>
              <a:rPr lang="en-US" sz="5011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D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66185" y="1515975"/>
            <a:ext cx="14755630" cy="4202118"/>
          </a:xfrm>
          <a:custGeom>
            <a:avLst/>
            <a:gdLst/>
            <a:ahLst/>
            <a:cxnLst/>
            <a:rect r="r" b="b" t="t" l="l"/>
            <a:pathLst>
              <a:path h="4202118" w="14755630">
                <a:moveTo>
                  <a:pt x="0" y="0"/>
                </a:moveTo>
                <a:lnTo>
                  <a:pt x="14755630" y="0"/>
                </a:lnTo>
                <a:lnTo>
                  <a:pt x="14755630" y="4202118"/>
                </a:lnTo>
                <a:lnTo>
                  <a:pt x="0" y="4202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027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6211776"/>
            <a:ext cx="18288000" cy="198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18"/>
              </a:lnSpc>
              <a:spcBef>
                <a:spcPct val="0"/>
              </a:spcBef>
            </a:pPr>
            <a:r>
              <a:rPr lang="en-US" sz="7642">
                <a:solidFill>
                  <a:srgbClr val="000000"/>
                </a:solidFill>
                <a:latin typeface="Montnapha"/>
                <a:ea typeface="Montnapha"/>
                <a:cs typeface="Montnapha"/>
                <a:sym typeface="Montnapha"/>
              </a:rPr>
              <a:t>Este modelo aprende la relación entre horas de estudio y notas.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40185" y="5018790"/>
            <a:ext cx="7737938" cy="4978530"/>
          </a:xfrm>
          <a:custGeom>
            <a:avLst/>
            <a:gdLst/>
            <a:ahLst/>
            <a:cxnLst/>
            <a:rect r="r" b="b" t="t" l="l"/>
            <a:pathLst>
              <a:path h="4978530" w="7737938">
                <a:moveTo>
                  <a:pt x="0" y="0"/>
                </a:moveTo>
                <a:lnTo>
                  <a:pt x="7737938" y="0"/>
                </a:lnTo>
                <a:lnTo>
                  <a:pt x="7737938" y="4978530"/>
                </a:lnTo>
                <a:lnTo>
                  <a:pt x="0" y="49785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76" r="0" b="-177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74038" y="490537"/>
            <a:ext cx="5939924" cy="990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99"/>
              </a:lnSpc>
              <a:spcBef>
                <a:spcPct val="0"/>
              </a:spcBef>
            </a:pPr>
            <a:r>
              <a:rPr lang="en-US" sz="5999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Ti</a:t>
            </a:r>
            <a:r>
              <a:rPr lang="en-US" sz="5999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po</a:t>
            </a:r>
            <a:r>
              <a:rPr lang="en-US" sz="5999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s</a:t>
            </a:r>
            <a:r>
              <a:rPr lang="en-US" sz="5999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 de </a:t>
            </a:r>
            <a:r>
              <a:rPr lang="en-US" sz="5999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D</a:t>
            </a:r>
            <a:r>
              <a:rPr lang="en-US" sz="5999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a</a:t>
            </a:r>
            <a:r>
              <a:rPr lang="en-US" sz="5999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t</a:t>
            </a:r>
            <a:r>
              <a:rPr lang="en-US" sz="5999" strike="noStrike" u="none">
                <a:solidFill>
                  <a:srgbClr val="EDF0F2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aset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31104" y="1691573"/>
            <a:ext cx="12180809" cy="3327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4"/>
              </a:lnSpc>
              <a:spcBef>
                <a:spcPct val="0"/>
              </a:spcBef>
            </a:pPr>
            <a:r>
              <a:rPr lang="en-US" sz="5172">
                <a:solidFill>
                  <a:srgbClr val="EDF0F2"/>
                </a:solidFill>
                <a:latin typeface="Montnapha"/>
                <a:ea typeface="Montnapha"/>
                <a:cs typeface="Montnapha"/>
                <a:sym typeface="Montnapha"/>
              </a:rPr>
              <a:t>Training Set: datos para entrenar el modelo.</a:t>
            </a:r>
          </a:p>
          <a:p>
            <a:pPr algn="ctr">
              <a:lnSpc>
                <a:spcPts val="5224"/>
              </a:lnSpc>
              <a:spcBef>
                <a:spcPct val="0"/>
              </a:spcBef>
            </a:pPr>
            <a:r>
              <a:rPr lang="en-US" sz="5172">
                <a:solidFill>
                  <a:srgbClr val="EDF0F2"/>
                </a:solidFill>
                <a:latin typeface="Montnapha"/>
                <a:ea typeface="Montnapha"/>
                <a:cs typeface="Montnapha"/>
                <a:sym typeface="Montnapha"/>
              </a:rPr>
              <a:t>Validation Set: datos para ajustar el modelo.</a:t>
            </a:r>
          </a:p>
          <a:p>
            <a:pPr algn="ctr">
              <a:lnSpc>
                <a:spcPts val="5224"/>
              </a:lnSpc>
              <a:spcBef>
                <a:spcPct val="0"/>
              </a:spcBef>
            </a:pPr>
            <a:r>
              <a:rPr lang="en-US" sz="5172">
                <a:solidFill>
                  <a:srgbClr val="EDF0F2"/>
                </a:solidFill>
                <a:latin typeface="Montnapha"/>
                <a:ea typeface="Montnapha"/>
                <a:cs typeface="Montnapha"/>
                <a:sym typeface="Montnapha"/>
              </a:rPr>
              <a:t>Test Set: datos para evaluar resultados.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10287000"/>
            <a:chOff x="0" y="0"/>
            <a:chExt cx="1393034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3034" cy="1593725"/>
            </a:xfrm>
            <a:custGeom>
              <a:avLst/>
              <a:gdLst/>
              <a:ahLst/>
              <a:cxnLst/>
              <a:rect r="r" b="b" t="t" l="l"/>
              <a:pathLst>
                <a:path h="1593725" w="1393034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0" r="-90677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984295" y="3488892"/>
            <a:ext cx="14319410" cy="433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9"/>
              </a:lnSpc>
              <a:spcBef>
                <a:spcPct val="0"/>
              </a:spcBef>
            </a:pPr>
            <a:r>
              <a:rPr lang="en-US" sz="6742">
                <a:solidFill>
                  <a:srgbClr val="FFFFFF"/>
                </a:solidFill>
                <a:latin typeface="Montnapha"/>
                <a:ea typeface="Montnapha"/>
                <a:cs typeface="Montnapha"/>
                <a:sym typeface="Montnapha"/>
              </a:rPr>
              <a:t>¿Qué son?</a:t>
            </a:r>
          </a:p>
          <a:p>
            <a:pPr algn="ctr">
              <a:lnSpc>
                <a:spcPts val="6809"/>
              </a:lnSpc>
              <a:spcBef>
                <a:spcPct val="0"/>
              </a:spcBef>
            </a:pPr>
            <a:r>
              <a:rPr lang="en-US" sz="6742">
                <a:solidFill>
                  <a:srgbClr val="FFFFFF"/>
                </a:solidFill>
                <a:latin typeface="Montnapha"/>
                <a:ea typeface="Montnapha"/>
                <a:cs typeface="Montnapha"/>
                <a:sym typeface="Montnapha"/>
              </a:rPr>
              <a:t>Las librerías en Python son herramientas que facilitan el trabajo en Machine Learning, análisis de datos y creación de modelos inteligentes.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07913" y="1699709"/>
            <a:ext cx="8176975" cy="101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18"/>
              </a:lnSpc>
              <a:spcBef>
                <a:spcPct val="0"/>
              </a:spcBef>
            </a:pPr>
            <a:r>
              <a:rPr lang="en-US" sz="7642">
                <a:solidFill>
                  <a:srgbClr val="FFFFFF"/>
                </a:solidFill>
                <a:latin typeface="Montnapha"/>
                <a:ea typeface="Montnapha"/>
                <a:cs typeface="Montnapha"/>
                <a:sym typeface="Montnapha"/>
              </a:rPr>
              <a:t>Librerías de Python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10287000"/>
            <a:chOff x="0" y="0"/>
            <a:chExt cx="1393034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3034" cy="1593725"/>
            </a:xfrm>
            <a:custGeom>
              <a:avLst/>
              <a:gdLst/>
              <a:ahLst/>
              <a:cxnLst/>
              <a:rect r="r" b="b" t="t" l="l"/>
              <a:pathLst>
                <a:path h="1593725" w="1393034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0" r="-90677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220935" y="2197915"/>
            <a:ext cx="13846130" cy="6861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15"/>
              </a:lnSpc>
              <a:spcBef>
                <a:spcPct val="0"/>
              </a:spcBef>
            </a:pPr>
            <a:r>
              <a:rPr lang="en-US" sz="5361">
                <a:solidFill>
                  <a:srgbClr val="FFFFFF"/>
                </a:solidFill>
                <a:latin typeface="Montnapha"/>
                <a:ea typeface="Montnapha"/>
                <a:cs typeface="Montnapha"/>
                <a:sym typeface="Montnapha"/>
              </a:rPr>
              <a:t>🔹 NumPy</a:t>
            </a:r>
          </a:p>
          <a:p>
            <a:pPr algn="ctr">
              <a:lnSpc>
                <a:spcPts val="5415"/>
              </a:lnSpc>
              <a:spcBef>
                <a:spcPct val="0"/>
              </a:spcBef>
            </a:pPr>
            <a:r>
              <a:rPr lang="en-US" sz="5361">
                <a:solidFill>
                  <a:srgbClr val="FFFFFF"/>
                </a:solidFill>
                <a:latin typeface="Montnapha"/>
                <a:ea typeface="Montnapha"/>
                <a:cs typeface="Montnapha"/>
                <a:sym typeface="Montnapha"/>
              </a:rPr>
              <a:t>Manejo de operaciones matemáticas y arreglos.</a:t>
            </a:r>
          </a:p>
          <a:p>
            <a:pPr algn="ctr">
              <a:lnSpc>
                <a:spcPts val="5415"/>
              </a:lnSpc>
              <a:spcBef>
                <a:spcPct val="0"/>
              </a:spcBef>
            </a:pPr>
            <a:r>
              <a:rPr lang="en-US" sz="5361">
                <a:solidFill>
                  <a:srgbClr val="FFFFFF"/>
                </a:solidFill>
                <a:latin typeface="Montnapha"/>
                <a:ea typeface="Montnapha"/>
                <a:cs typeface="Montnapha"/>
                <a:sym typeface="Montnapha"/>
              </a:rPr>
              <a:t>🔹 Pandas</a:t>
            </a:r>
          </a:p>
          <a:p>
            <a:pPr algn="ctr">
              <a:lnSpc>
                <a:spcPts val="5415"/>
              </a:lnSpc>
              <a:spcBef>
                <a:spcPct val="0"/>
              </a:spcBef>
            </a:pPr>
            <a:r>
              <a:rPr lang="en-US" sz="5361">
                <a:solidFill>
                  <a:srgbClr val="FFFFFF"/>
                </a:solidFill>
                <a:latin typeface="Montnapha"/>
                <a:ea typeface="Montnapha"/>
                <a:cs typeface="Montnapha"/>
                <a:sym typeface="Montnapha"/>
              </a:rPr>
              <a:t>Organización y análisis de datos.</a:t>
            </a:r>
          </a:p>
          <a:p>
            <a:pPr algn="ctr">
              <a:lnSpc>
                <a:spcPts val="5415"/>
              </a:lnSpc>
              <a:spcBef>
                <a:spcPct val="0"/>
              </a:spcBef>
            </a:pPr>
            <a:r>
              <a:rPr lang="en-US" sz="5361">
                <a:solidFill>
                  <a:srgbClr val="FFFFFF"/>
                </a:solidFill>
                <a:latin typeface="Montnapha"/>
                <a:ea typeface="Montnapha"/>
                <a:cs typeface="Montnapha"/>
                <a:sym typeface="Montnapha"/>
              </a:rPr>
              <a:t>🔹 Matplotlib</a:t>
            </a:r>
          </a:p>
          <a:p>
            <a:pPr algn="ctr">
              <a:lnSpc>
                <a:spcPts val="5415"/>
              </a:lnSpc>
              <a:spcBef>
                <a:spcPct val="0"/>
              </a:spcBef>
            </a:pPr>
            <a:r>
              <a:rPr lang="en-US" sz="5361">
                <a:solidFill>
                  <a:srgbClr val="FFFFFF"/>
                </a:solidFill>
                <a:latin typeface="Montnapha"/>
                <a:ea typeface="Montnapha"/>
                <a:cs typeface="Montnapha"/>
                <a:sym typeface="Montnapha"/>
              </a:rPr>
              <a:t>Creación de gráficos y visualizaciones.</a:t>
            </a:r>
          </a:p>
          <a:p>
            <a:pPr algn="ctr">
              <a:lnSpc>
                <a:spcPts val="5415"/>
              </a:lnSpc>
              <a:spcBef>
                <a:spcPct val="0"/>
              </a:spcBef>
            </a:pPr>
            <a:r>
              <a:rPr lang="en-US" sz="5361">
                <a:solidFill>
                  <a:srgbClr val="FFFFFF"/>
                </a:solidFill>
                <a:latin typeface="Montnapha"/>
                <a:ea typeface="Montnapha"/>
                <a:cs typeface="Montnapha"/>
                <a:sym typeface="Montnapha"/>
              </a:rPr>
              <a:t>🔹 Scikit-learn</a:t>
            </a:r>
          </a:p>
          <a:p>
            <a:pPr algn="ctr">
              <a:lnSpc>
                <a:spcPts val="5415"/>
              </a:lnSpc>
              <a:spcBef>
                <a:spcPct val="0"/>
              </a:spcBef>
            </a:pPr>
            <a:r>
              <a:rPr lang="en-US" sz="5361">
                <a:solidFill>
                  <a:srgbClr val="FFFFFF"/>
                </a:solidFill>
                <a:latin typeface="Montnapha"/>
                <a:ea typeface="Montnapha"/>
                <a:cs typeface="Montnapha"/>
                <a:sym typeface="Montnapha"/>
              </a:rPr>
              <a:t>Algoritmos de Machine Learning.</a:t>
            </a:r>
          </a:p>
          <a:p>
            <a:pPr algn="ctr">
              <a:lnSpc>
                <a:spcPts val="5415"/>
              </a:lnSpc>
              <a:spcBef>
                <a:spcPct val="0"/>
              </a:spcBef>
            </a:pPr>
            <a:r>
              <a:rPr lang="en-US" sz="5361">
                <a:solidFill>
                  <a:srgbClr val="FFFFFF"/>
                </a:solidFill>
                <a:latin typeface="Montnapha"/>
                <a:ea typeface="Montnapha"/>
                <a:cs typeface="Montnapha"/>
                <a:sym typeface="Montnapha"/>
              </a:rPr>
              <a:t>🔹 TensorFlow</a:t>
            </a:r>
          </a:p>
          <a:p>
            <a:pPr algn="ctr">
              <a:lnSpc>
                <a:spcPts val="5415"/>
              </a:lnSpc>
              <a:spcBef>
                <a:spcPct val="0"/>
              </a:spcBef>
            </a:pPr>
            <a:r>
              <a:rPr lang="en-US" sz="5361">
                <a:solidFill>
                  <a:srgbClr val="FFFFFF"/>
                </a:solidFill>
                <a:latin typeface="Montnapha"/>
                <a:ea typeface="Montnapha"/>
                <a:cs typeface="Montnapha"/>
                <a:sym typeface="Montnapha"/>
              </a:rPr>
              <a:t>Redes neuronales e inteligencia artificial.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22431" y="593595"/>
            <a:ext cx="6618327" cy="101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18"/>
              </a:lnSpc>
              <a:spcBef>
                <a:spcPct val="0"/>
              </a:spcBef>
            </a:pPr>
            <a:r>
              <a:rPr lang="en-US" sz="7642">
                <a:solidFill>
                  <a:srgbClr val="FFFFFF"/>
                </a:solidFill>
                <a:latin typeface="Montnapha"/>
                <a:ea typeface="Montnapha"/>
                <a:cs typeface="Montnapha"/>
                <a:sym typeface="Montnapha"/>
              </a:rPr>
              <a:t>Los mas usados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D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11417" y="2169196"/>
            <a:ext cx="14665165" cy="5400348"/>
          </a:xfrm>
          <a:custGeom>
            <a:avLst/>
            <a:gdLst/>
            <a:ahLst/>
            <a:cxnLst/>
            <a:rect r="r" b="b" t="t" l="l"/>
            <a:pathLst>
              <a:path h="5400348" w="14665165">
                <a:moveTo>
                  <a:pt x="0" y="0"/>
                </a:moveTo>
                <a:lnTo>
                  <a:pt x="14665166" y="0"/>
                </a:lnTo>
                <a:lnTo>
                  <a:pt x="14665166" y="5400348"/>
                </a:lnTo>
                <a:lnTo>
                  <a:pt x="0" y="54003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17971" y="1016936"/>
            <a:ext cx="9855640" cy="101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18"/>
              </a:lnSpc>
              <a:spcBef>
                <a:spcPct val="0"/>
              </a:spcBef>
            </a:pPr>
            <a:r>
              <a:rPr lang="en-US" sz="7642">
                <a:solidFill>
                  <a:srgbClr val="FFFFFF"/>
                </a:solidFill>
                <a:latin typeface="Montnapha"/>
                <a:ea typeface="Montnapha"/>
                <a:cs typeface="Montnapha"/>
                <a:sym typeface="Montnapha"/>
              </a:rPr>
              <a:t>Importancia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788342"/>
            <a:ext cx="16230600" cy="5870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18"/>
              </a:lnSpc>
              <a:spcBef>
                <a:spcPct val="0"/>
              </a:spcBef>
            </a:pPr>
            <a:r>
              <a:rPr lang="en-US" sz="7642">
                <a:solidFill>
                  <a:srgbClr val="FFFFFF"/>
                </a:solidFill>
                <a:latin typeface="Montnapha"/>
                <a:ea typeface="Montnapha"/>
                <a:cs typeface="Montnapha"/>
                <a:sym typeface="Montnapha"/>
              </a:rPr>
              <a:t>Los datasets y las librerías de Python son esenciales en el Machine Learning, ya que permiten analizar datos, entrenar modelos y desarrollar sistemas inteligentes de manera más rápida y eficiente.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DAHKnnsQWcU</dc:identifier>
  <dcterms:modified xsi:type="dcterms:W3CDTF">2011-08-01T06:04:30Z</dcterms:modified>
  <cp:revision>1</cp:revision>
  <dc:title>Dataset en Machine Learning</dc:title>
</cp:coreProperties>
</file>